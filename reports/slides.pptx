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7498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Budget-Constrained Epidemic Intervention using GNN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66928" y="2075688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 | SASHTS household contact network</a:t>
            </a:r>
            <a:endParaRPr lang="en-US" sz="1400" dirty="0"/>
          </a:p>
        </p:txBody>
      </p:sp>
      <p:pic>
        <p:nvPicPr>
          <p:cNvPr id="7" name="Image 0" descr="C:\Users\ADMIN\CostTrace\visualizations\network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02920"/>
            <a:ext cx="4800600" cy="3840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94360" y="4709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594360" y="51297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214884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542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2148840" y="5129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edges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886200" y="47091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3886200" y="51297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577840" y="470916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42.7%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5577840" y="512978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reduction at k=10%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tracing becomes a resource-allocation problem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Knowing likely spreaders is only useful if the team can decide whom to isolate first.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4663440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Household transmission creates dense local contact structures.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Budgets are constrained: only k percent of nodes can be selected.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objective is not only source discovery; it is reducing downstream infections.</a:t>
            </a:r>
            <a:endParaRPr lang="en-US" sz="1400" dirty="0"/>
          </a:p>
        </p:txBody>
      </p:sp>
      <p:pic>
        <p:nvPicPr>
          <p:cNvPr id="10" name="Image 0" descr="C:\Users\ADMIN\CostTrace\visualizations\chart_sir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00200"/>
            <a:ext cx="5715000" cy="34747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48920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3.42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777240" y="531266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infected per household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154680" y="48920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70.9%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3154680" y="53126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attack rate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DEEPTRACE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DeepTrace solves the source question, not the budget question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extends the story from who likely spread infection to who should be selected under limited capacity.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38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signal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07792" y="2505456"/>
            <a:ext cx="347472" cy="228600"/>
          </a:xfrm>
          <a:prstGeom prst="rightArrow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24028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93008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MLE source search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76672" y="2505456"/>
            <a:ext cx="347472" cy="22860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224028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61888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Likely F0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45552" y="2505456"/>
            <a:ext cx="347472" cy="228600"/>
          </a:xfrm>
          <a:prstGeom prst="rightArrow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224028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7C6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24048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96012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Strength: graph learning helps identify influential sources.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Gap: it does not directly answer which k percent to isolate.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evaluates the operational decision with SIR simulations.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 QUESTION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strategy reduces infections most when only k% of nodes can be removed?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experiment compares four selection rules under identical budget and SIR settings.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05740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38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221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53512" y="2322576"/>
            <a:ext cx="347472" cy="228600"/>
          </a:xfrm>
          <a:prstGeom prst="rightArrow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05740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221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Degree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22392" y="2322576"/>
            <a:ext cx="347472" cy="22860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205740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2221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Betweenness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91272" y="2322576"/>
            <a:ext cx="347472" cy="228600"/>
          </a:xfrm>
          <a:prstGeom prst="rightArrow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05740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7C6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222199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risk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43000" y="39776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1%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143000" y="439826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 budget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3977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971800" y="439826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budget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83480" y="39776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4983480" y="439826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budget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949440" y="3886200"/>
            <a:ext cx="39319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metric: percent reduction in mean infected nodes per household vs baseline.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SASHTS is small, dense, and household-scoped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task a realistic test of intervention prioritization inside local contact components.</a:t>
            </a:r>
            <a:endParaRPr lang="en-US" sz="1200" dirty="0"/>
          </a:p>
        </p:txBody>
      </p:sp>
      <p:pic>
        <p:nvPicPr>
          <p:cNvPr id="9" name="Image 0" descr="C:\Users\ADMIN\CostTrace\visualizations\network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897880" cy="4251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86600" y="16916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340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7086600" y="21122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individuals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823960" y="16916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542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823960" y="2112264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086600" y="2880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0.963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7086600" y="330098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 HH density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98280" y="2880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C6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098280" y="3300984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Louvain modularity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086600" y="4206240"/>
            <a:ext cx="4114800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South Africa Household Transmission Study.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Edges are weighted by proximity duration and contact count.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pipeline turns contact data into comparable intervention decisions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strategy produces a selected top-k node set before the same SIR evaluator is applied.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60120" y="24231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38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2587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53512" y="2688336"/>
            <a:ext cx="347472" cy="228600"/>
          </a:xfrm>
          <a:prstGeom prst="rightArrow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9000" y="24231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38728" y="2587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nodes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22392" y="2688336"/>
            <a:ext cx="347472" cy="22860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24231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2587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top-k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91272" y="2688336"/>
            <a:ext cx="347472" cy="228600"/>
          </a:xfrm>
          <a:prstGeom prst="rightArrow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66760" y="24231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7C6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76488" y="25877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SIR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931920"/>
            <a:ext cx="960120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Topology and community metrics describe structural position.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GraphSAGE uses topology, contact, and metadata features.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 outputs are aggregated by household component.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CENTRALITY + COMMUNITY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Dense household communities dominate the graph structure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Louvain aligns with household components, while degree and bridge measures still separate risk within households.</a:t>
            </a:r>
            <a:endParaRPr lang="en-US" sz="1200" dirty="0"/>
          </a:p>
        </p:txBody>
      </p:sp>
      <p:pic>
        <p:nvPicPr>
          <p:cNvPr id="9" name="Image 0" descr="C:\Users\ADMIN\CostTrace\visualizations\chart_degre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394960" cy="3474720"/>
          </a:xfrm>
          <a:prstGeom prst="rect">
            <a:avLst/>
          </a:prstGeom>
        </p:spPr>
      </p:pic>
      <p:pic>
        <p:nvPicPr>
          <p:cNvPr id="10" name="Image 1" descr="C:\Users\ADMIN\CostTrace\visualizations\network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08760"/>
            <a:ext cx="4892040" cy="34747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525780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914400" y="56784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communities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2880360" y="52578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2880360" y="567842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HH agreement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MODEL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GraphSAGE gives a learned risk signal beyond single centrality rules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combines graph position, contact strength, demographic fields, and index-case indicators.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659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386F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2130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16352" y="2231136"/>
            <a:ext cx="347472" cy="228600"/>
          </a:xfrm>
          <a:prstGeom prst="rightArrow">
            <a:avLst/>
          </a:prstGeom>
          <a:solidFill>
            <a:srgbClr val="386FA4"/>
          </a:solidFill>
          <a:ln w="12700">
            <a:solidFill>
              <a:srgbClr val="386F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9659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2A9D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01568" y="2130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mean aggregation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85232" y="2231136"/>
            <a:ext cx="347472" cy="228600"/>
          </a:xfrm>
          <a:prstGeom prst="rightArrow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19659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D979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70448" y="2130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54112" y="2231136"/>
            <a:ext cx="347472" cy="228600"/>
          </a:xfrm>
          <a:prstGeom prst="rightArrow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1965960"/>
            <a:ext cx="1965960" cy="777240"/>
          </a:xfrm>
          <a:prstGeom prst="rect">
            <a:avLst>
              <a:gd name="adj" fmla="val 2353"/>
            </a:avLst>
          </a:prstGeom>
          <a:solidFill>
            <a:srgbClr val="FFFFFF"/>
          </a:solidFill>
          <a:ln w="15240">
            <a:solidFill>
              <a:srgbClr val="7C6A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9328" y="21305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252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ranking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977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0.804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1097280" y="439826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AUC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71800" y="39776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0.767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2971800" y="43982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AUC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17720" y="39776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0.816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4617720" y="43982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F1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629400" y="3886200"/>
            <a:ext cx="420624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artifact: models/gnn_best.pt.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scores exported to results/model/gnn_risk_scores.csv.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BUDGET SELECTION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Top-k selection converts scores into intervention sets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each strategy, the top ranked k percent of nodes are removed before SIR simulation.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5029200" cy="2331720"/>
          </a:xfrm>
          <a:prstGeom prst="rect">
            <a:avLst/>
          </a:prstGeom>
          <a:solidFill>
            <a:srgbClr val="FFFFFF">
              <a:alpha val="95000"/>
            </a:srgbClr>
          </a:solidFill>
          <a:ln w="7620">
            <a:solidFill>
              <a:srgbClr val="D8D1C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D2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graph G, budget k, strategy score s(v)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 nodes by s(v) descending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first ceil(k% * |V|) nodes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 selected nodes from household SIR runs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5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mean infected and reduction vs baseline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37960" y="1828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537960" y="224942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nodes selected at k=1%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583680" y="2971800"/>
            <a:ext cx="374904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high-risk node: S005-003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high-risk node: J008-004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high-risk node: J063-004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 BASELINE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no-intervention baseline sets the denominator for every result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reductions are measured against the same household-level baseline simulation.</a:t>
            </a:r>
            <a:endParaRPr lang="en-US" sz="1200" dirty="0"/>
          </a:p>
        </p:txBody>
      </p:sp>
      <p:pic>
        <p:nvPicPr>
          <p:cNvPr id="9" name="Image 0" descr="C:\Users\ADMIN\CostTrace\visualizations\chart_sir_bas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08760"/>
            <a:ext cx="6858000" cy="3886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321040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0.25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321040" y="22494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9555480" y="18288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9555480" y="224942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gamma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21040" y="306324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979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321040" y="34838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steps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829800" y="3063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7C6A9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9829800" y="348386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GNN is the strongest strategy at every evaluated budget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heatmap is the core result for the report and presentation.</a:t>
            </a:r>
            <a:endParaRPr lang="en-US" sz="1200" dirty="0"/>
          </a:p>
        </p:txBody>
      </p:sp>
      <p:pic>
        <p:nvPicPr>
          <p:cNvPr id="9" name="Image 0" descr="C:\Users\ADMIN\CostTrace\visualizations\chart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17320"/>
            <a:ext cx="6583680" cy="4251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0" y="16916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386FA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229600" y="211226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reduction at k=1%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22960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22.2%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229600" y="32095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reduction at k=5%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229600" y="38862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42.7%</a:t>
            </a:r>
            <a:endParaRPr lang="en-US" sz="2300" dirty="0"/>
          </a:p>
        </p:txBody>
      </p:sp>
      <p:sp>
        <p:nvSpPr>
          <p:cNvPr id="15" name="Text 12"/>
          <p:cNvSpPr/>
          <p:nvPr/>
        </p:nvSpPr>
        <p:spPr>
          <a:xfrm>
            <a:off x="8229600" y="43068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reduction at k=10%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K=1% COMPARISON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tightest budget, GNN beats Degree by 1.8 points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modest at 1%, then widens sharply as the budget grows.</a:t>
            </a:r>
            <a:endParaRPr lang="en-US" sz="1200" dirty="0"/>
          </a:p>
        </p:txBody>
      </p:sp>
      <p:pic>
        <p:nvPicPr>
          <p:cNvPr id="9" name="Image 0" descr="C:\Users\ADMIN\CostTrace\visualizations\chart_reduction_by_strate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6583680" cy="3886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046720" y="18288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D628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 pts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8046720" y="22494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minus Degree at k=1%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46720" y="30632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28.1 pts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8046720" y="348386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minus Degree at k=10%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046720" y="438912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learned ranking becomes more valuable as intervention capacity expands.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Learned risk ranking is the recommended intervention strategy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05 delivers the visual, report, and presentation artifacts needed for final submission.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740664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GNN gives the best SIR reduction at 1%, 5%, and 10% budgets.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Gephi-ready node and edge tables are exported for manual refinement.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work: recovery-aware top-k, temporal graph modeling, spatiotemporal features, and online updates.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69680" y="22402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869680" y="266090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05 output status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473952"/>
            <a:ext cx="11292840" cy="0"/>
          </a:xfrm>
          <a:prstGeom prst="line">
            <a:avLst/>
          </a:prstGeom>
          <a:noFill/>
          <a:ln w="7620">
            <a:solidFill>
              <a:srgbClr val="D8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47104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CostTrace Phase 05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11292840" y="654710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7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1480" y="320040"/>
            <a:ext cx="109728" cy="109728"/>
          </a:xfrm>
          <a:prstGeom prst="rect">
            <a:avLst/>
          </a:prstGeom>
          <a:solidFill>
            <a:srgbClr val="D97941"/>
          </a:solidFill>
          <a:ln w="12700">
            <a:solidFill>
              <a:srgbClr val="D979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23774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D66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71323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D25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420624" y="1325880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C56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outputs are saved under visualizations/ and reports/.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1965960"/>
            <a:ext cx="731520" cy="384048"/>
          </a:xfrm>
          <a:prstGeom prst="rect">
            <a:avLst/>
          </a:prstGeom>
          <a:solidFill>
            <a:srgbClr val="1D252C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2039112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45920" y="1965960"/>
            <a:ext cx="1325880" cy="384048"/>
          </a:xfrm>
          <a:prstGeom prst="rect">
            <a:avLst/>
          </a:prstGeom>
          <a:solidFill>
            <a:srgbClr val="1D252C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0784" y="2039112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71800" y="1965960"/>
            <a:ext cx="1143000" cy="384048"/>
          </a:xfrm>
          <a:prstGeom prst="rect">
            <a:avLst/>
          </a:prstGeom>
          <a:solidFill>
            <a:srgbClr val="1D252C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26664" y="2039112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114800" y="1965960"/>
            <a:ext cx="1097280" cy="384048"/>
          </a:xfrm>
          <a:prstGeom prst="rect">
            <a:avLst/>
          </a:prstGeom>
          <a:solidFill>
            <a:srgbClr val="1D252C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9664" y="2039112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914400" y="2350008"/>
            <a:ext cx="73152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9264" y="2423160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Heatmap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645920" y="2350008"/>
            <a:ext cx="132588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00784" y="2423160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result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71800" y="2350008"/>
            <a:ext cx="114300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6664" y="2423160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114800" y="2350008"/>
            <a:ext cx="109728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2423160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visualizations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14400" y="2734056"/>
            <a:ext cx="73152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" y="2807208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645920" y="2734056"/>
            <a:ext cx="13258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700784" y="2807208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chapters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971800" y="2734056"/>
            <a:ext cx="114300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26664" y="2807208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0" y="2734056"/>
            <a:ext cx="1097280" cy="384048"/>
          </a:xfrm>
          <a:prstGeom prst="rect">
            <a:avLst/>
          </a:prstGeom>
          <a:solidFill>
            <a:srgbClr val="FFFFFF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9664" y="2807208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4400" y="3118104"/>
            <a:ext cx="73152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" y="3191256"/>
            <a:ext cx="621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1645920" y="3118104"/>
            <a:ext cx="132588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00784" y="3191256"/>
            <a:ext cx="1216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971800" y="3118104"/>
            <a:ext cx="114300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6664" y="3191256"/>
            <a:ext cx="1033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114800" y="3118104"/>
            <a:ext cx="1097280" cy="384048"/>
          </a:xfrm>
          <a:prstGeom prst="rect">
            <a:avLst/>
          </a:prstGeom>
          <a:solidFill>
            <a:srgbClr val="F4EFE7"/>
          </a:solidFill>
          <a:ln w="5080">
            <a:solidFill>
              <a:srgbClr val="D8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69664" y="3191256"/>
            <a:ext cx="987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400800" y="2103120"/>
            <a:ext cx="41148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431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Console report prints: Phase 05 DONE. All outputs saved.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CostTrace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Budget-Constrained Epidemic Intervention using GNN</dc:title>
  <dc:subject>Budget-constrained epidemic intervention</dc:subject>
  <dc:creator>CostTrace Team</dc:creator>
  <cp:lastModifiedBy>CostTrace Team</cp:lastModifiedBy>
  <cp:revision>1</cp:revision>
  <dcterms:created xsi:type="dcterms:W3CDTF">2026-05-27T15:18:34Z</dcterms:created>
  <dcterms:modified xsi:type="dcterms:W3CDTF">2026-05-27T15:18:34Z</dcterms:modified>
</cp:coreProperties>
</file>